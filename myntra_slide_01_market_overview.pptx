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e1341c299643e5" /><Relationship Type="http://schemas.openxmlformats.org/officeDocument/2006/relationships/extended-properties" Target="/docProps/app.xml" Id="R6138a8bd0a8a475b" /><Relationship Type="http://schemas.openxmlformats.org/officeDocument/2006/relationships/officeDocument" Target="/ppt/presentation.xml" Id="Rf012b80654d748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275003b8c34cea"/>
  </p:sldMasterIdLst>
  <p:notesMasterIdLst>
    <p:notesMasterId xmlns:r="http://schemas.openxmlformats.org/officeDocument/2006/relationships" r:id="R78de3a1f22a74d9f"/>
  </p:notesMasterIdLst>
  <p:sldIdLst>
    <p:sldId xmlns:r="http://schemas.openxmlformats.org/officeDocument/2006/relationships" id="256" r:id="R595276d273c240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51045616e74fad" /><Relationship Type="http://schemas.openxmlformats.org/officeDocument/2006/relationships/slideMaster" Target="/ppt/slideMasters/slideMaster1.xml" Id="R3f275003b8c34cea" /><Relationship Type="http://schemas.openxmlformats.org/officeDocument/2006/relationships/notesMaster" Target="/ppt/notesMasters/notesMaster1.xml" Id="R78de3a1f22a74d9f" /><Relationship Type="http://schemas.openxmlformats.org/officeDocument/2006/relationships/presProps" Target="/ppt/presProps.xml" Id="R0623d0394afb4bca" /><Relationship Type="http://schemas.openxmlformats.org/officeDocument/2006/relationships/tableStyles" Target="/ppt/tableStyles.xml" Id="R6fc0aede12ba46e0" /><Relationship Type="http://schemas.openxmlformats.org/officeDocument/2006/relationships/slide" Target="/ppt/slides/slide1.xml" Id="R595276d273c240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bf0109b1be45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d50b000e094bef" /><Relationship Type="http://schemas.openxmlformats.org/officeDocument/2006/relationships/notesMaster" Target="/ppt/notesMasters/notesMaster1.xml" Id="R60e512ae9e584c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[1] Bain &amp; Company × Myntra, E-Styling India: Decoding Online Fashion and Lifestyle Shopping Trends (August 2024): 175M+ online lifestyle shoppers; $16–17B current e-lifestyle market; $40–45B projected by 2028; roughly 1 in 5 lifestyle dollars expected online by 2028. https://preprodcms.bain.com/insights/e-styling-india-decoding-online-fashion-and-lifestyle-shopping-trends-webinar/</a:t>
            </a:r>
          </a:p>
          <a:p xmlns:a="http://schemas.openxmlformats.org/drawingml/2006/main">
            <a:r>
              <a:t>[2] Moneycontrol / ANI (December 4, 2025): ~200M annual active users expected by end-2025; 4M+ trend-first styles; +25% YoY repeat-customer growth; increased purchase frequency; 50% active customer base is Gen Z. https://www.moneycontrol.com/news/business/companies/myntra-set-to-hit-200-million-annual-active-users-in-2025-50-of-the-active-customer-base-is-gen-z-13713290.html</a:t>
            </a:r>
          </a:p>
          <a:p xmlns:a="http://schemas.openxmlformats.org/drawingml/2006/main">
            <a:r>
              <a:t>[3] The Economic Times / Registrar of Companies (September 12, 2025): ₹6,043 crore FY25 revenue from operations; +18% YoY. https://economictimes.indiatimes.com/tech/technology/myntras-net-profit-rises-to-rs-548-crore-in-fy25-revenue-up-18/articleshow/123855941.cms</a:t>
            </a:r>
          </a:p>
          <a:p xmlns:a="http://schemas.openxmlformats.org/drawingml/2006/main">
            <a:r>
              <a:t>[4] Mint, reporting Datum Intelligence estimates: selected 2025 online-fashion shares — Flipkart 25.2%, Myntra 17.1%, Amazon 13.8%, AJIO 9.0%, Nykaa Fashion 2.3%. Meesho and other players intentionally omitted. https://www.livemint.com/companies/nykaa-fashion-gmv-growth-profitability-11781421999258.html</a:t>
            </a:r>
          </a:p>
          <a:p xmlns:a="http://schemas.openxmlformats.org/drawingml/2006/main">
            <a:r>
              <a:t>[5] The Ken, The rise, fall, and return of GMV (February 10, 2024): industry analysis that maturing Indian e-commerce increases the importance of cross-selling, repeat purchases, and protecting customer wallet share; fashion e-commerce faced difficult growth conditions. https://the-ken.com/the-nutgraf/the-rise-fall-and-return-of-gmv/</a:t>
            </a:r>
          </a:p>
          <a:p xmlns:a="http://schemas.openxmlformats.org/drawingml/2006/main">
            <a:r>
              <a:t>[6] Graduation Project Brief supplied by the project owner: Growth Team goal to increase the percentage of users who purchase at least one wishlist item within 30 days of adding it.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9f99eede9345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7d9f55011f4893" /><Relationship Type="http://schemas.openxmlformats.org/officeDocument/2006/relationships/slideLayout" Target="/ppt/slideLayouts/slideLayout1.xml" Id="Rb7872d0e064744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872d0e064744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8b2bc48c54e0e" /><Relationship Type="http://schemas.openxmlformats.org/officeDocument/2006/relationships/hyperlink" Target="https://preprodcms.bain.com/insights/e-styling-india-decoding-online-fashion-and-lifestyle-shopping-trends-webinar/" TargetMode="External" Id="Rc89100d7642a4cad" /><Relationship Type="http://schemas.openxmlformats.org/officeDocument/2006/relationships/hyperlink" Target="https://www.moneycontrol.com/news/business/companies/myntra-set-to-hit-200-million-annual-active-users-in-2025-50-of-the-active-customer-base-is-gen-z-13713290.html" TargetMode="External" Id="R4095775dc99d4b3e" /><Relationship Type="http://schemas.openxmlformats.org/officeDocument/2006/relationships/hyperlink" Target="https://economictimes.indiatimes.com/tech/technology/myntras-net-profit-rises-to-rs-548-crore-in-fy25-revenue-up-18/articleshow/123855941.cms" TargetMode="External" Id="Rf7c0af7cc3674f76" /><Relationship Type="http://schemas.openxmlformats.org/officeDocument/2006/relationships/hyperlink" Target="https://www.livemint.com/companies/nykaa-fashion-gmv-growth-profitability-11781421999258.html" TargetMode="External" Id="Rca2da56c2a224aae" /><Relationship Type="http://schemas.openxmlformats.org/officeDocument/2006/relationships/hyperlink" Target="https://the-ken.com/the-nutgraf/the-rise-fall-and-return-of-gmv/" TargetMode="External" Id="R88c3ed619f9845d0" /><Relationship Type="http://schemas.openxmlformats.org/officeDocument/2006/relationships/notesSlide" Target="/ppt/notesSlides/notesSlide1.xml" Id="R9a52e455c9be48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top-accent">
            <a:extLst xmlns:a="http://schemas.openxmlformats.org/drawingml/2006/main">
              <a:ext uri="{FF2B5EF4-FFF2-40B4-BE49-F238E27FC236}">
                <a16:creationId xmlns:a16="http://schemas.microsoft.com/office/drawing/2014/main" id="{94DDA40F-32BF-4031-BF89-B33229F1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1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label">
            <a:extLst xmlns:a="http://schemas.openxmlformats.org/drawingml/2006/main">
              <a:ext uri="{FF2B5EF4-FFF2-40B4-BE49-F238E27FC236}">
                <a16:creationId xmlns:a16="http://schemas.microsoft.com/office/drawing/2014/main" id="{99B8B755-8972-4324-972C-0736BF7B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0D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70D45"/>
                </a:solidFill>
                <a:latin typeface="Arial"/>
                <a:ea typeface="Arial"/>
                <a:cs typeface="Arial"/>
              </a:rPr>
              <a:t>MYNTRA · MARKET OVERVIEW</a:t>
            </a:r>
          </a:p>
        </p:txBody>
      </p:sp>
      <p:sp>
        <p:nvSpPr>
          <p:cNvPr id="3" name="main-headline">
            <a:extLst xmlns:a="http://schemas.openxmlformats.org/drawingml/2006/main">
              <a:ext uri="{FF2B5EF4-FFF2-40B4-BE49-F238E27FC236}">
                <a16:creationId xmlns:a16="http://schemas.microsoft.com/office/drawing/2014/main" id="{476E6F29-0604-4D39-A122-8644D8D2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India’s online lifestyle market is set to more than double by 2028 — and Myntra already operates at scale</a:t>
            </a:r>
          </a:p>
        </p:txBody>
      </p:sp>
      <p:sp>
        <p:nvSpPr>
          <p:cNvPr id="4" name="market-context-heading">
            <a:extLst xmlns:a="http://schemas.openxmlformats.org/drawingml/2006/main">
              <a:ext uri="{FF2B5EF4-FFF2-40B4-BE49-F238E27FC236}">
                <a16:creationId xmlns:a16="http://schemas.microsoft.com/office/drawing/2014/main" id="{ABEB932D-98DB-4922-8DE9-0A8F7CC8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MARKET CONTEXT</a:t>
            </a:r>
          </a:p>
        </p:txBody>
      </p:sp>
      <p:sp>
        <p:nvSpPr>
          <p:cNvPr id="5" name="market-context-accent">
            <a:extLst xmlns:a="http://schemas.openxmlformats.org/drawingml/2006/main">
              <a:ext uri="{FF2B5EF4-FFF2-40B4-BE49-F238E27FC236}">
                <a16:creationId xmlns:a16="http://schemas.microsoft.com/office/drawing/2014/main" id="{53AF6A6A-1B22-4BB6-8EA9-5C1F4CAE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1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rket-context-rule">
            <a:extLst xmlns:a="http://schemas.openxmlformats.org/drawingml/2006/main">
              <a:ext uri="{FF2B5EF4-FFF2-40B4-BE49-F238E27FC236}">
                <a16:creationId xmlns:a16="http://schemas.microsoft.com/office/drawing/2014/main" id="{FDDBC68C-5847-46A6-A9C2-960357DC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14525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yntra-at-a-glance-heading">
            <a:extLst xmlns:a="http://schemas.openxmlformats.org/drawingml/2006/main">
              <a:ext uri="{FF2B5EF4-FFF2-40B4-BE49-F238E27FC236}">
                <a16:creationId xmlns:a16="http://schemas.microsoft.com/office/drawing/2014/main" id="{39E7A61D-CE1C-4293-9EE1-31160A02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383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MYNTRA AT A GLANCE</a:t>
            </a:r>
          </a:p>
        </p:txBody>
      </p:sp>
      <p:sp>
        <p:nvSpPr>
          <p:cNvPr id="8" name="myntra-at-a-glance-accent">
            <a:extLst xmlns:a="http://schemas.openxmlformats.org/drawingml/2006/main">
              <a:ext uri="{FF2B5EF4-FFF2-40B4-BE49-F238E27FC236}">
                <a16:creationId xmlns:a16="http://schemas.microsoft.com/office/drawing/2014/main" id="{5B206E5E-5592-455C-9C2D-EA3DCED9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050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1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yntra-at-a-glance-rule">
            <a:extLst xmlns:a="http://schemas.openxmlformats.org/drawingml/2006/main">
              <a:ext uri="{FF2B5EF4-FFF2-40B4-BE49-F238E27FC236}">
                <a16:creationId xmlns:a16="http://schemas.microsoft.com/office/drawing/2014/main" id="{DCA3610F-49D7-4E89-8313-C4D47D06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14525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lected-online-fashion-players-·-2025-heading">
            <a:extLst xmlns:a="http://schemas.openxmlformats.org/drawingml/2006/main">
              <a:ext uri="{FF2B5EF4-FFF2-40B4-BE49-F238E27FC236}">
                <a16:creationId xmlns:a16="http://schemas.microsoft.com/office/drawing/2014/main" id="{E837C272-7A41-4A0A-8F1C-BFB66D7E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3830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3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SELECTED ONLINE FASHION PLAYERS · 2025</a:t>
            </a:r>
          </a:p>
        </p:txBody>
      </p:sp>
      <p:sp>
        <p:nvSpPr>
          <p:cNvPr id="11" name="selected-online-fashion-players-·-2025-accent">
            <a:extLst xmlns:a="http://schemas.openxmlformats.org/drawingml/2006/main">
              <a:ext uri="{FF2B5EF4-FFF2-40B4-BE49-F238E27FC236}">
                <a16:creationId xmlns:a16="http://schemas.microsoft.com/office/drawing/2014/main" id="{36180D49-CBF4-4A82-B9AC-32C9734F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050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1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lected-online-fashion-players-·-2025-rule">
            <a:extLst xmlns:a="http://schemas.openxmlformats.org/drawingml/2006/main">
              <a:ext uri="{FF2B5EF4-FFF2-40B4-BE49-F238E27FC236}">
                <a16:creationId xmlns:a16="http://schemas.microsoft.com/office/drawing/2014/main" id="{2AEF532E-CE4F-4A2B-9948-B42CB074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14525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iddle-divider-1">
            <a:extLst xmlns:a="http://schemas.openxmlformats.org/drawingml/2006/main">
              <a:ext uri="{FF2B5EF4-FFF2-40B4-BE49-F238E27FC236}">
                <a16:creationId xmlns:a16="http://schemas.microsoft.com/office/drawing/2014/main" id="{4F9F88AF-72B9-446A-AAAE-02F8BF7C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628775"/>
            <a:ext cx="952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ddle-divider-2">
            <a:extLst xmlns:a="http://schemas.openxmlformats.org/drawingml/2006/main">
              <a:ext uri="{FF2B5EF4-FFF2-40B4-BE49-F238E27FC236}">
                <a16:creationId xmlns:a16="http://schemas.microsoft.com/office/drawing/2014/main" id="{20D780F6-51C3-428C-848D-1ED1342B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28775"/>
            <a:ext cx="952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nline-shoppers-value">
            <a:extLst xmlns:a="http://schemas.openxmlformats.org/drawingml/2006/main">
              <a:ext uri="{FF2B5EF4-FFF2-40B4-BE49-F238E27FC236}">
                <a16:creationId xmlns:a16="http://schemas.microsoft.com/office/drawing/2014/main" id="{BC0A3D95-7689-4256-A304-3A830E46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175M+</a:t>
            </a:r>
          </a:p>
        </p:txBody>
      </p:sp>
      <p:sp>
        <p:nvSpPr>
          <p:cNvPr id="16" name="online-shoppers-label">
            <a:extLst xmlns:a="http://schemas.openxmlformats.org/drawingml/2006/main">
              <a:ext uri="{FF2B5EF4-FFF2-40B4-BE49-F238E27FC236}">
                <a16:creationId xmlns:a16="http://schemas.microsoft.com/office/drawing/2014/main" id="{713646BC-AD97-4D9B-8513-494CA162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F59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960"/>
                </a:solidFill>
                <a:latin typeface="Arial"/>
                <a:ea typeface="Arial"/>
                <a:cs typeface="Arial"/>
              </a:rPr>
              <a:t>Indians shopping for lifestyle products online [1]</a:t>
            </a:r>
          </a:p>
        </p:txBody>
      </p:sp>
      <p:sp>
        <p:nvSpPr>
          <p:cNvPr id="17" name="market-now">
            <a:extLst xmlns:a="http://schemas.openxmlformats.org/drawingml/2006/main">
              <a:ext uri="{FF2B5EF4-FFF2-40B4-BE49-F238E27FC236}">
                <a16:creationId xmlns:a16="http://schemas.microsoft.com/office/drawing/2014/main" id="{61F8E07C-47AC-41D1-9898-38C259D1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7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$16–17B</a:t>
            </a:r>
          </a:p>
        </p:txBody>
      </p:sp>
      <p:sp>
        <p:nvSpPr>
          <p:cNvPr id="18" name="market-now-label">
            <a:extLst xmlns:a="http://schemas.openxmlformats.org/drawingml/2006/main">
              <a:ext uri="{FF2B5EF4-FFF2-40B4-BE49-F238E27FC236}">
                <a16:creationId xmlns:a16="http://schemas.microsoft.com/office/drawing/2014/main" id="{697C1811-8E3E-4630-9933-095723F1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9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59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960"/>
                </a:solidFill>
                <a:latin typeface="Arial"/>
                <a:ea typeface="Arial"/>
                <a:cs typeface="Arial"/>
              </a:rPr>
              <a:t>e-lifestyle market</a:t>
            </a:r>
          </a:p>
        </p:txBody>
      </p:sp>
      <p:sp>
        <p:nvSpPr>
          <p:cNvPr id="19" name="market-arrow">
            <a:extLst xmlns:a="http://schemas.openxmlformats.org/drawingml/2006/main">
              <a:ext uri="{FF2B5EF4-FFF2-40B4-BE49-F238E27FC236}">
                <a16:creationId xmlns:a16="http://schemas.microsoft.com/office/drawing/2014/main" id="{0BF36CE9-7921-42D2-9D88-0C3601EA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003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31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3135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market-future">
            <a:extLst xmlns:a="http://schemas.openxmlformats.org/drawingml/2006/main">
              <a:ext uri="{FF2B5EF4-FFF2-40B4-BE49-F238E27FC236}">
                <a16:creationId xmlns:a16="http://schemas.microsoft.com/office/drawing/2014/main" id="{85DA0FC9-8131-4DCA-9BFC-2A4B0024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527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7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70D4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70D45"/>
                </a:solidFill>
                <a:latin typeface="Arial"/>
                <a:ea typeface="Arial"/>
                <a:cs typeface="Arial"/>
              </a:rPr>
              <a:t>$40–45B</a:t>
            </a:r>
          </a:p>
        </p:txBody>
      </p:sp>
      <p:sp>
        <p:nvSpPr>
          <p:cNvPr id="21" name="market-future-label">
            <a:extLst xmlns:a="http://schemas.openxmlformats.org/drawingml/2006/main">
              <a:ext uri="{FF2B5EF4-FFF2-40B4-BE49-F238E27FC236}">
                <a16:creationId xmlns:a16="http://schemas.microsoft.com/office/drawing/2014/main" id="{CC98A67B-C6FE-4A7A-839F-9E06C48D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147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59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960"/>
                </a:solidFill>
                <a:latin typeface="Arial"/>
                <a:ea typeface="Arial"/>
                <a:cs typeface="Arial"/>
              </a:rPr>
              <a:t>projected by 2028</a:t>
            </a:r>
          </a:p>
        </p:txBody>
      </p:sp>
      <p:sp>
        <p:nvSpPr>
          <p:cNvPr id="22" name="one-in-five">
            <a:extLst xmlns:a="http://schemas.openxmlformats.org/drawingml/2006/main">
              <a:ext uri="{FF2B5EF4-FFF2-40B4-BE49-F238E27FC236}">
                <a16:creationId xmlns:a16="http://schemas.microsoft.com/office/drawing/2014/main" id="{3A5210B7-7724-4A18-94A4-E374D694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242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By 2028, roughly 1 in 5 lifestyle dollars is expected to be spent online. [1]</a:t>
            </a:r>
          </a:p>
        </p:txBody>
      </p:sp>
      <p:sp>
        <p:nvSpPr>
          <p:cNvPr id="23" name="myntra-stat-h">
            <a:extLst xmlns:a="http://schemas.openxmlformats.org/drawingml/2006/main">
              <a:ext uri="{FF2B5EF4-FFF2-40B4-BE49-F238E27FC236}">
                <a16:creationId xmlns:a16="http://schemas.microsoft.com/office/drawing/2014/main" id="{0C377AA6-AEB5-44CC-8BB6-43B35D4E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yntra-stat-v">
            <a:extLst xmlns:a="http://schemas.openxmlformats.org/drawingml/2006/main">
              <a:ext uri="{FF2B5EF4-FFF2-40B4-BE49-F238E27FC236}">
                <a16:creationId xmlns:a16="http://schemas.microsoft.com/office/drawing/2014/main" id="{C8D119AF-9BF8-4B7D-92D8-D8B6931F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95500"/>
            <a:ext cx="95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au-value">
            <a:extLst xmlns:a="http://schemas.openxmlformats.org/drawingml/2006/main">
              <a:ext uri="{FF2B5EF4-FFF2-40B4-BE49-F238E27FC236}">
                <a16:creationId xmlns:a16="http://schemas.microsoft.com/office/drawing/2014/main" id="{6D7B13D4-83F5-4345-9BE4-4249BEA0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6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~200M</a:t>
            </a:r>
          </a:p>
        </p:txBody>
      </p:sp>
      <p:sp>
        <p:nvSpPr>
          <p:cNvPr id="26" name="aau-label">
            <a:extLst xmlns:a="http://schemas.openxmlformats.org/drawingml/2006/main">
              <a:ext uri="{FF2B5EF4-FFF2-40B4-BE49-F238E27FC236}">
                <a16:creationId xmlns:a16="http://schemas.microsoft.com/office/drawing/2014/main" id="{6AB6BE2F-2DFA-4378-A36F-0A58959F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66975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5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F59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960"/>
                </a:solidFill>
                <a:latin typeface="Arial"/>
                <a:ea typeface="Arial"/>
                <a:cs typeface="Arial"/>
              </a:rPr>
              <a:t>Annual active users expected by end-2025 [2]</a:t>
            </a:r>
          </a:p>
        </p:txBody>
      </p:sp>
      <p:sp>
        <p:nvSpPr>
          <p:cNvPr id="27" name="styles-value">
            <a:extLst xmlns:a="http://schemas.openxmlformats.org/drawingml/2006/main">
              <a:ext uri="{FF2B5EF4-FFF2-40B4-BE49-F238E27FC236}">
                <a16:creationId xmlns:a16="http://schemas.microsoft.com/office/drawing/2014/main" id="{43EFED4A-21A2-44BB-B755-8A68341A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955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6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4M+</a:t>
            </a:r>
          </a:p>
        </p:txBody>
      </p:sp>
      <p:sp>
        <p:nvSpPr>
          <p:cNvPr id="28" name="styles-label">
            <a:extLst xmlns:a="http://schemas.openxmlformats.org/drawingml/2006/main">
              <a:ext uri="{FF2B5EF4-FFF2-40B4-BE49-F238E27FC236}">
                <a16:creationId xmlns:a16="http://schemas.microsoft.com/office/drawing/2014/main" id="{5EB69DA0-780A-4A46-A91F-81C9AD05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66975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F59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960"/>
                </a:solidFill>
                <a:latin typeface="Arial"/>
                <a:ea typeface="Arial"/>
                <a:cs typeface="Arial"/>
              </a:rPr>
              <a:t>Trend-first styles available [2]</a:t>
            </a:r>
          </a:p>
        </p:txBody>
      </p:sp>
      <p:sp>
        <p:nvSpPr>
          <p:cNvPr id="29" name="repeat-value">
            <a:extLst xmlns:a="http://schemas.openxmlformats.org/drawingml/2006/main">
              <a:ext uri="{FF2B5EF4-FFF2-40B4-BE49-F238E27FC236}">
                <a16:creationId xmlns:a16="http://schemas.microsoft.com/office/drawing/2014/main" id="{5C772241-9478-47E0-A44D-8D3E073C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1467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+25% YoY</a:t>
            </a:r>
          </a:p>
        </p:txBody>
      </p:sp>
      <p:sp>
        <p:nvSpPr>
          <p:cNvPr id="30" name="repeat-label">
            <a:extLst xmlns:a="http://schemas.openxmlformats.org/drawingml/2006/main">
              <a:ext uri="{FF2B5EF4-FFF2-40B4-BE49-F238E27FC236}">
                <a16:creationId xmlns:a16="http://schemas.microsoft.com/office/drawing/2014/main" id="{9324F331-8D8A-42F1-8742-90DB2D4C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8615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F59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960"/>
                </a:solidFill>
                <a:latin typeface="Arial"/>
                <a:ea typeface="Arial"/>
                <a:cs typeface="Arial"/>
              </a:rPr>
              <a:t>Growth in repeat customers in 2025 [2]</a:t>
            </a:r>
          </a:p>
        </p:txBody>
      </p:sp>
      <p:sp>
        <p:nvSpPr>
          <p:cNvPr id="31" name="revenue-value">
            <a:extLst xmlns:a="http://schemas.openxmlformats.org/drawingml/2006/main">
              <a:ext uri="{FF2B5EF4-FFF2-40B4-BE49-F238E27FC236}">
                <a16:creationId xmlns:a16="http://schemas.microsoft.com/office/drawing/2014/main" id="{B130B50F-D84B-4AE0-A1E1-FA7F854E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1467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₹6,043 Cr</a:t>
            </a:r>
          </a:p>
        </p:txBody>
      </p:sp>
      <p:sp>
        <p:nvSpPr>
          <p:cNvPr id="32" name="revenue-label">
            <a:extLst xmlns:a="http://schemas.openxmlformats.org/drawingml/2006/main">
              <a:ext uri="{FF2B5EF4-FFF2-40B4-BE49-F238E27FC236}">
                <a16:creationId xmlns:a16="http://schemas.microsoft.com/office/drawing/2014/main" id="{0E8EEEF1-2AB8-421A-A292-24D31C0D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8615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6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F59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960"/>
                </a:solidFill>
                <a:latin typeface="Arial"/>
                <a:ea typeface="Arial"/>
                <a:cs typeface="Arial"/>
              </a:rPr>
              <a:t>FY25 revenue from operations · +18% YoY [3]</a:t>
            </a:r>
          </a:p>
        </p:txBody>
      </p:sp>
      <p:sp>
        <p:nvSpPr>
          <p:cNvPr id="33" name="bar-zero-baseline">
            <a:extLst xmlns:a="http://schemas.openxmlformats.org/drawingml/2006/main">
              <a:ext uri="{FF2B5EF4-FFF2-40B4-BE49-F238E27FC236}">
                <a16:creationId xmlns:a16="http://schemas.microsoft.com/office/drawing/2014/main" id="{C5A57948-E3CE-42E9-86A5-BE5F2AF9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085975"/>
            <a:ext cx="95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layer-0">
            <a:extLst xmlns:a="http://schemas.openxmlformats.org/drawingml/2006/main">
              <a:ext uri="{FF2B5EF4-FFF2-40B4-BE49-F238E27FC236}">
                <a16:creationId xmlns:a16="http://schemas.microsoft.com/office/drawing/2014/main" id="{30618D83-26F8-4FE7-B3EA-34726908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574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11E22"/>
                </a:solidFill>
                <a:latin typeface="Arial"/>
                <a:ea typeface="Arial"/>
                <a:cs typeface="Arial"/>
              </a:rPr>
              <a:t>Flipkart</a:t>
            </a:r>
          </a:p>
        </p:txBody>
      </p:sp>
      <p:sp>
        <p:nvSpPr>
          <p:cNvPr id="35" name="bar-track-0">
            <a:extLst xmlns:a="http://schemas.openxmlformats.org/drawingml/2006/main">
              <a:ext uri="{FF2B5EF4-FFF2-40B4-BE49-F238E27FC236}">
                <a16:creationId xmlns:a16="http://schemas.microsoft.com/office/drawing/2014/main" id="{1C7758B0-3480-49FB-A219-EBAFBDF0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33600"/>
            <a:ext cx="22098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ar-0">
            <a:extLst xmlns:a="http://schemas.openxmlformats.org/drawingml/2006/main">
              <a:ext uri="{FF2B5EF4-FFF2-40B4-BE49-F238E27FC236}">
                <a16:creationId xmlns:a16="http://schemas.microsoft.com/office/drawing/2014/main" id="{AB8CE482-9107-4AF9-B824-E4A3A8CE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33600"/>
            <a:ext cx="22098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4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ct-0">
            <a:extLst xmlns:a="http://schemas.openxmlformats.org/drawingml/2006/main">
              <a:ext uri="{FF2B5EF4-FFF2-40B4-BE49-F238E27FC236}">
                <a16:creationId xmlns:a16="http://schemas.microsoft.com/office/drawing/2014/main" id="{F01CE56B-EBFD-433A-B21A-76720CE3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57400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11E22"/>
                </a:solidFill>
                <a:latin typeface="Arial"/>
                <a:ea typeface="Arial"/>
                <a:cs typeface="Arial"/>
              </a:rPr>
              <a:t>25.2%</a:t>
            </a:r>
          </a:p>
        </p:txBody>
      </p:sp>
      <p:sp>
        <p:nvSpPr>
          <p:cNvPr id="38" name="player-1">
            <a:extLst xmlns:a="http://schemas.openxmlformats.org/drawingml/2006/main">
              <a:ext uri="{FF2B5EF4-FFF2-40B4-BE49-F238E27FC236}">
                <a16:creationId xmlns:a16="http://schemas.microsoft.com/office/drawing/2014/main" id="{AA1D1D4E-443F-4653-BB89-907D8980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717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0D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70D45"/>
                </a:solidFill>
                <a:latin typeface="Arial"/>
                <a:ea typeface="Arial"/>
                <a:cs typeface="Arial"/>
              </a:rPr>
              <a:t>Myntra</a:t>
            </a:r>
          </a:p>
        </p:txBody>
      </p:sp>
      <p:sp>
        <p:nvSpPr>
          <p:cNvPr id="39" name="bar-track-1">
            <a:extLst xmlns:a="http://schemas.openxmlformats.org/drawingml/2006/main">
              <a:ext uri="{FF2B5EF4-FFF2-40B4-BE49-F238E27FC236}">
                <a16:creationId xmlns:a16="http://schemas.microsoft.com/office/drawing/2014/main" id="{15CC471B-9B49-400C-A214-5480AD04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47925"/>
            <a:ext cx="22098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ar-1">
            <a:extLst xmlns:a="http://schemas.openxmlformats.org/drawingml/2006/main">
              <a:ext uri="{FF2B5EF4-FFF2-40B4-BE49-F238E27FC236}">
                <a16:creationId xmlns:a16="http://schemas.microsoft.com/office/drawing/2014/main" id="{9B7B148F-978C-4106-AE1A-60929291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47925"/>
            <a:ext cx="1499507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1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ct-1">
            <a:extLst xmlns:a="http://schemas.openxmlformats.org/drawingml/2006/main">
              <a:ext uri="{FF2B5EF4-FFF2-40B4-BE49-F238E27FC236}">
                <a16:creationId xmlns:a16="http://schemas.microsoft.com/office/drawing/2014/main" id="{6E23CA99-1967-4EBA-9B83-F542BEBA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37172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A70D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70D45"/>
                </a:solidFill>
                <a:latin typeface="Arial"/>
                <a:ea typeface="Arial"/>
                <a:cs typeface="Arial"/>
              </a:rPr>
              <a:t>17.1%</a:t>
            </a:r>
          </a:p>
        </p:txBody>
      </p:sp>
      <p:sp>
        <p:nvSpPr>
          <p:cNvPr id="42" name="player-2">
            <a:extLst xmlns:a="http://schemas.openxmlformats.org/drawingml/2006/main">
              <a:ext uri="{FF2B5EF4-FFF2-40B4-BE49-F238E27FC236}">
                <a16:creationId xmlns:a16="http://schemas.microsoft.com/office/drawing/2014/main" id="{8606C0D3-4B4B-40DC-BB40-85C74631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11E22"/>
                </a:solidFill>
                <a:latin typeface="Arial"/>
                <a:ea typeface="Arial"/>
                <a:cs typeface="Arial"/>
              </a:rPr>
              <a:t>Amazon</a:t>
            </a:r>
          </a:p>
        </p:txBody>
      </p:sp>
      <p:sp>
        <p:nvSpPr>
          <p:cNvPr id="43" name="bar-track-2">
            <a:extLst xmlns:a="http://schemas.openxmlformats.org/drawingml/2006/main">
              <a:ext uri="{FF2B5EF4-FFF2-40B4-BE49-F238E27FC236}">
                <a16:creationId xmlns:a16="http://schemas.microsoft.com/office/drawing/2014/main" id="{9DE2C140-66B8-4B2B-BE5C-0D24F6ED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62250"/>
            <a:ext cx="22098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ar-2">
            <a:extLst xmlns:a="http://schemas.openxmlformats.org/drawingml/2006/main">
              <a:ext uri="{FF2B5EF4-FFF2-40B4-BE49-F238E27FC236}">
                <a16:creationId xmlns:a16="http://schemas.microsoft.com/office/drawing/2014/main" id="{859180E3-9510-4524-B34E-E8CF4F56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62250"/>
            <a:ext cx="1210129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4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ct-2">
            <a:extLst xmlns:a="http://schemas.openxmlformats.org/drawingml/2006/main">
              <a:ext uri="{FF2B5EF4-FFF2-40B4-BE49-F238E27FC236}">
                <a16:creationId xmlns:a16="http://schemas.microsoft.com/office/drawing/2014/main" id="{58EE6F6E-AC09-4A70-9E19-6836BD6F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686050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11E22"/>
                </a:solidFill>
                <a:latin typeface="Arial"/>
                <a:ea typeface="Arial"/>
                <a:cs typeface="Arial"/>
              </a:rPr>
              <a:t>13.8%</a:t>
            </a:r>
          </a:p>
        </p:txBody>
      </p:sp>
      <p:sp>
        <p:nvSpPr>
          <p:cNvPr id="46" name="player-3">
            <a:extLst xmlns:a="http://schemas.openxmlformats.org/drawingml/2006/main">
              <a:ext uri="{FF2B5EF4-FFF2-40B4-BE49-F238E27FC236}">
                <a16:creationId xmlns:a16="http://schemas.microsoft.com/office/drawing/2014/main" id="{F93D3EE7-6717-4ED9-B115-4B415D51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003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11E22"/>
                </a:solidFill>
                <a:latin typeface="Arial"/>
                <a:ea typeface="Arial"/>
                <a:cs typeface="Arial"/>
              </a:rPr>
              <a:t>AJIO</a:t>
            </a:r>
          </a:p>
        </p:txBody>
      </p:sp>
      <p:sp>
        <p:nvSpPr>
          <p:cNvPr id="47" name="bar-track-3">
            <a:extLst xmlns:a="http://schemas.openxmlformats.org/drawingml/2006/main">
              <a:ext uri="{FF2B5EF4-FFF2-40B4-BE49-F238E27FC236}">
                <a16:creationId xmlns:a16="http://schemas.microsoft.com/office/drawing/2014/main" id="{EFBAB379-61CD-467E-BA63-67AABA0A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76575"/>
            <a:ext cx="22098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ar-3">
            <a:extLst xmlns:a="http://schemas.openxmlformats.org/drawingml/2006/main">
              <a:ext uri="{FF2B5EF4-FFF2-40B4-BE49-F238E27FC236}">
                <a16:creationId xmlns:a16="http://schemas.microsoft.com/office/drawing/2014/main" id="{3067CFDD-F38C-4985-BA52-3B50A02A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76575"/>
            <a:ext cx="789214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4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ct-3">
            <a:extLst xmlns:a="http://schemas.openxmlformats.org/drawingml/2006/main">
              <a:ext uri="{FF2B5EF4-FFF2-40B4-BE49-F238E27FC236}">
                <a16:creationId xmlns:a16="http://schemas.microsoft.com/office/drawing/2014/main" id="{2AB2F40B-C19F-43E5-BEF3-E722666F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00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11E22"/>
                </a:solidFill>
                <a:latin typeface="Arial"/>
                <a:ea typeface="Arial"/>
                <a:cs typeface="Arial"/>
              </a:rPr>
              <a:t>9.0%</a:t>
            </a:r>
          </a:p>
        </p:txBody>
      </p:sp>
      <p:sp>
        <p:nvSpPr>
          <p:cNvPr id="50" name="player-4">
            <a:extLst xmlns:a="http://schemas.openxmlformats.org/drawingml/2006/main">
              <a:ext uri="{FF2B5EF4-FFF2-40B4-BE49-F238E27FC236}">
                <a16:creationId xmlns:a16="http://schemas.microsoft.com/office/drawing/2014/main" id="{F1ABB2E0-506C-4E9F-849B-62194A85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147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08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11E22"/>
                </a:solidFill>
                <a:latin typeface="Arial"/>
                <a:ea typeface="Arial"/>
                <a:cs typeface="Arial"/>
              </a:rPr>
              <a:t>Nykaa Fashion</a:t>
            </a:r>
          </a:p>
        </p:txBody>
      </p:sp>
      <p:sp>
        <p:nvSpPr>
          <p:cNvPr id="51" name="bar-track-4">
            <a:extLst xmlns:a="http://schemas.openxmlformats.org/drawingml/2006/main">
              <a:ext uri="{FF2B5EF4-FFF2-40B4-BE49-F238E27FC236}">
                <a16:creationId xmlns:a16="http://schemas.microsoft.com/office/drawing/2014/main" id="{33B94A75-4598-4B6C-A99C-DBF7434C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22098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ar-4">
            <a:extLst xmlns:a="http://schemas.openxmlformats.org/drawingml/2006/main">
              <a:ext uri="{FF2B5EF4-FFF2-40B4-BE49-F238E27FC236}">
                <a16:creationId xmlns:a16="http://schemas.microsoft.com/office/drawing/2014/main" id="{09843FAD-B463-4637-9446-2CE2C25E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201688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4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ct-4">
            <a:extLst xmlns:a="http://schemas.openxmlformats.org/drawingml/2006/main">
              <a:ext uri="{FF2B5EF4-FFF2-40B4-BE49-F238E27FC236}">
                <a16:creationId xmlns:a16="http://schemas.microsoft.com/office/drawing/2014/main" id="{61484717-F513-4185-A273-5B3A4A69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314700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11E22"/>
                </a:solidFill>
                <a:latin typeface="Arial"/>
                <a:ea typeface="Arial"/>
                <a:cs typeface="Arial"/>
              </a:rPr>
              <a:t>2.3%</a:t>
            </a:r>
          </a:p>
        </p:txBody>
      </p:sp>
      <p:sp>
        <p:nvSpPr>
          <p:cNvPr id="54" name="chart-note">
            <a:extLst xmlns:a="http://schemas.openxmlformats.org/drawingml/2006/main">
              <a:ext uri="{FF2B5EF4-FFF2-40B4-BE49-F238E27FC236}">
                <a16:creationId xmlns:a16="http://schemas.microsoft.com/office/drawing/2014/main" id="{5A4AF1D0-74CA-4DC0-AB37-76F44BA8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14750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5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5F59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960"/>
                </a:solidFill>
                <a:latin typeface="Arial"/>
                <a:ea typeface="Arial"/>
                <a:cs typeface="Arial"/>
              </a:rPr>
              <a:t>Selected platforms shown; other players, including Meesho, are not displayed. [4]</a:t>
            </a:r>
          </a:p>
        </p:txBody>
      </p:sp>
      <p:sp>
        <p:nvSpPr>
          <p:cNvPr id="55" name="business-band">
            <a:extLst xmlns:a="http://schemas.openxmlformats.org/drawingml/2006/main">
              <a:ext uri="{FF2B5EF4-FFF2-40B4-BE49-F238E27FC236}">
                <a16:creationId xmlns:a16="http://schemas.microsoft.com/office/drawing/2014/main" id="{176D6D0C-1D47-4415-9798-457520B7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86250"/>
            <a:ext cx="115824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7F9"/>
          </a:solidFill>
          <a:ln xmlns:a="http://schemas.openxmlformats.org/drawingml/2006/main" w="9525">
            <a:solidFill>
              <a:srgbClr val="EDD9E0"/>
            </a:solidFill>
            <a:prstDash val="solid"/>
          </a:ln>
        </p:spPr>
      </p:sp>
      <p:sp>
        <p:nvSpPr>
          <p:cNvPr id="56" name="band-left-accent">
            <a:extLst xmlns:a="http://schemas.openxmlformats.org/drawingml/2006/main">
              <a:ext uri="{FF2B5EF4-FFF2-40B4-BE49-F238E27FC236}">
                <a16:creationId xmlns:a16="http://schemas.microsoft.com/office/drawing/2014/main" id="{57BF4867-BCE5-431B-B55A-CDB28060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4386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1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and-divider">
            <a:extLst xmlns:a="http://schemas.openxmlformats.org/drawingml/2006/main">
              <a:ext uri="{FF2B5EF4-FFF2-40B4-BE49-F238E27FC236}">
                <a16:creationId xmlns:a16="http://schemas.microsoft.com/office/drawing/2014/main" id="{460AB8E8-0752-4984-8F6C-0026FB18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57700"/>
            <a:ext cx="95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hy-heading">
            <a:extLst xmlns:a="http://schemas.openxmlformats.org/drawingml/2006/main">
              <a:ext uri="{FF2B5EF4-FFF2-40B4-BE49-F238E27FC236}">
                <a16:creationId xmlns:a16="http://schemas.microsoft.com/office/drawing/2014/main" id="{CE1F5577-43D9-4847-82D7-0B6833BA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57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WHY SOLVE THIS?</a:t>
            </a:r>
          </a:p>
        </p:txBody>
      </p:sp>
      <p:sp>
        <p:nvSpPr>
          <p:cNvPr id="59" name="why-body">
            <a:extLst xmlns:a="http://schemas.openxmlformats.org/drawingml/2006/main">
              <a:ext uri="{FF2B5EF4-FFF2-40B4-BE49-F238E27FC236}">
                <a16:creationId xmlns:a16="http://schemas.microsoft.com/office/drawing/2014/main" id="{728D9AEC-0780-4D6F-BB81-FA344FDF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72025"/>
            <a:ext cx="2895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7982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11E22"/>
                </a:solidFill>
                <a:latin typeface="Arial"/>
                <a:ea typeface="Arial"/>
                <a:cs typeface="Arial"/>
              </a:rPr>
              <a:t>Industry analysis points to repeat purchases and wallet share as increasingly important growth questions. [5]</a:t>
            </a:r>
          </a:p>
          <a:p xmlns:a="http://schemas.openxmlformats.org/drawingml/2006/main">
            <a:pPr algn="l">
              <a:defRPr sz="1425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+25% YoY</a:t>
            </a:r>
            <a:r>
              <a:rPr sz="1425">
                <a:solidFill>
                  <a:srgbClr val="211E22"/>
                </a:solidFill>
                <a:latin typeface="Arial"/>
                <a:ea typeface="Arial"/>
                <a:cs typeface="Arial"/>
              </a:rPr>
              <a:t> repeat-customer growth in 2025, with purchase frequency also increasing. [2]</a:t>
            </a:r>
          </a:p>
          <a:p xmlns:a="http://schemas.openxmlformats.org/drawingml/2006/main">
            <a:pPr algn="l">
              <a:defRPr sz="1425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11E22"/>
                </a:solidFill>
                <a:latin typeface="Arial"/>
                <a:ea typeface="Arial"/>
                <a:cs typeface="Arial"/>
              </a:rPr>
              <a:t>At Myntra’s scale, understanding what keeps a saved item from becoming a purchase is a relevant question.</a:t>
            </a:r>
          </a:p>
        </p:txBody>
      </p:sp>
      <p:sp>
        <p:nvSpPr>
          <p:cNvPr id="60" name="growth-heading">
            <a:extLst xmlns:a="http://schemas.openxmlformats.org/drawingml/2006/main">
              <a:ext uri="{FF2B5EF4-FFF2-40B4-BE49-F238E27FC236}">
                <a16:creationId xmlns:a16="http://schemas.microsoft.com/office/drawing/2014/main" id="{E6C8ACE7-A078-485F-842C-41DA226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57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ASSIGNED GROWTH QUESTION</a:t>
            </a:r>
          </a:p>
        </p:txBody>
      </p:sp>
      <p:sp>
        <p:nvSpPr>
          <p:cNvPr id="61" name="journey-arrow-0">
            <a:extLst xmlns:a="http://schemas.openxmlformats.org/drawingml/2006/main">
              <a:ext uri="{FF2B5EF4-FFF2-40B4-BE49-F238E27FC236}">
                <a16:creationId xmlns:a16="http://schemas.microsoft.com/office/drawing/2014/main" id="{CBE22044-EFD3-4AC7-863A-9BCA9D37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905375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757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C757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2" name="journey-arrow-1">
            <a:extLst xmlns:a="http://schemas.openxmlformats.org/drawingml/2006/main">
              <a:ext uri="{FF2B5EF4-FFF2-40B4-BE49-F238E27FC236}">
                <a16:creationId xmlns:a16="http://schemas.microsoft.com/office/drawing/2014/main" id="{03D6B818-88F6-402B-844A-E616184B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05375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757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C757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3" name="journey-arrow-2">
            <a:extLst xmlns:a="http://schemas.openxmlformats.org/drawingml/2006/main">
              <a:ext uri="{FF2B5EF4-FFF2-40B4-BE49-F238E27FC236}">
                <a16:creationId xmlns:a16="http://schemas.microsoft.com/office/drawing/2014/main" id="{FEDC4A39-0D7C-414A-9C0E-A774DDEC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05375"/>
            <a:ext cx="352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757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C757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4" name="journey-arrow-3">
            <a:extLst xmlns:a="http://schemas.openxmlformats.org/drawingml/2006/main">
              <a:ext uri="{FF2B5EF4-FFF2-40B4-BE49-F238E27FC236}">
                <a16:creationId xmlns:a16="http://schemas.microsoft.com/office/drawing/2014/main" id="{D9D7FCD8-0DFD-4E16-888B-7363610E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053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757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C757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5" name="journey-stage-0">
            <a:extLst xmlns:a="http://schemas.openxmlformats.org/drawingml/2006/main">
              <a:ext uri="{FF2B5EF4-FFF2-40B4-BE49-F238E27FC236}">
                <a16:creationId xmlns:a16="http://schemas.microsoft.com/office/drawing/2014/main" id="{57FEDF54-BECF-439C-B78E-A1B5F5EB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387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BROWSE</a:t>
            </a:r>
          </a:p>
        </p:txBody>
      </p:sp>
      <p:sp>
        <p:nvSpPr>
          <p:cNvPr id="66" name="journey-stage-1">
            <a:extLst xmlns:a="http://schemas.openxmlformats.org/drawingml/2006/main">
              <a:ext uri="{FF2B5EF4-FFF2-40B4-BE49-F238E27FC236}">
                <a16:creationId xmlns:a16="http://schemas.microsoft.com/office/drawing/2014/main" id="{AD2DF20D-5DD9-4EC0-943B-C50A1099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387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FIND SOMETHING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YOU LIKE</a:t>
            </a:r>
          </a:p>
        </p:txBody>
      </p:sp>
      <p:sp>
        <p:nvSpPr>
          <p:cNvPr id="67" name="journey-stage-2">
            <a:extLst xmlns:a="http://schemas.openxmlformats.org/drawingml/2006/main">
              <a:ext uri="{FF2B5EF4-FFF2-40B4-BE49-F238E27FC236}">
                <a16:creationId xmlns:a16="http://schemas.microsoft.com/office/drawing/2014/main" id="{4EF7963B-0F74-4405-83C8-BBE28FAB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387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95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SAVE TO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WISHLIST</a:t>
            </a:r>
          </a:p>
        </p:txBody>
      </p:sp>
      <p:sp>
        <p:nvSpPr>
          <p:cNvPr id="68" name="journey-unknown">
            <a:extLst xmlns:a="http://schemas.openxmlformats.org/drawingml/2006/main">
              <a:ext uri="{FF2B5EF4-FFF2-40B4-BE49-F238E27FC236}">
                <a16:creationId xmlns:a16="http://schemas.microsoft.com/office/drawing/2014/main" id="{C4EBFD61-1A03-4F8C-BE45-5543C6BC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10125"/>
            <a:ext cx="5334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1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journey-unknown-text">
            <a:extLst xmlns:a="http://schemas.openxmlformats.org/drawingml/2006/main">
              <a:ext uri="{FF2B5EF4-FFF2-40B4-BE49-F238E27FC236}">
                <a16:creationId xmlns:a16="http://schemas.microsoft.com/office/drawing/2014/main" id="{F9303913-7CFD-4DFF-9D98-46FE9074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91075"/>
            <a:ext cx="53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70" name="journey-stage-4">
            <a:extLst xmlns:a="http://schemas.openxmlformats.org/drawingml/2006/main">
              <a:ext uri="{FF2B5EF4-FFF2-40B4-BE49-F238E27FC236}">
                <a16:creationId xmlns:a16="http://schemas.microsoft.com/office/drawing/2014/main" id="{B5A9A63F-2579-4C8E-ABBA-97D28F4A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387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PURCHASE</a:t>
            </a:r>
          </a:p>
        </p:txBody>
      </p:sp>
      <p:sp>
        <p:nvSpPr>
          <p:cNvPr id="71" name="goal-label">
            <a:extLst xmlns:a="http://schemas.openxmlformats.org/drawingml/2006/main">
              <a:ext uri="{FF2B5EF4-FFF2-40B4-BE49-F238E27FC236}">
                <a16:creationId xmlns:a16="http://schemas.microsoft.com/office/drawing/2014/main" id="{3B355B36-A128-40F8-A177-ABCADACD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81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67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0D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70D45"/>
                </a:solidFill>
                <a:latin typeface="Arial"/>
                <a:ea typeface="Arial"/>
                <a:cs typeface="Arial"/>
              </a:rPr>
              <a:t>GROWTH TEAM GOAL</a:t>
            </a:r>
          </a:p>
        </p:txBody>
      </p:sp>
      <p:sp>
        <p:nvSpPr>
          <p:cNvPr id="72" name="goal-copy">
            <a:extLst xmlns:a="http://schemas.openxmlformats.org/drawingml/2006/main">
              <a:ext uri="{FF2B5EF4-FFF2-40B4-BE49-F238E27FC236}">
                <a16:creationId xmlns:a16="http://schemas.microsoft.com/office/drawing/2014/main" id="{764D1C95-FDB1-4905-A6A4-229094FA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53050"/>
            <a:ext cx="598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Increase the % of users who purchase at least one item from their wishlist </a:t>
            </a:r>
            <a:r>
              <a:rPr sz="1425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within 30 days of adding it.</a:t>
            </a:r>
            <a:r>
              <a:rPr sz="1425">
                <a:solidFill>
                  <a:srgbClr val="211E22"/>
                </a:solidFill>
                <a:latin typeface="Arial"/>
                <a:ea typeface="Arial"/>
                <a:cs typeface="Arial"/>
              </a:rPr>
              <a:t> [6]</a:t>
            </a:r>
          </a:p>
        </p:txBody>
      </p:sp>
      <p:sp>
        <p:nvSpPr>
          <p:cNvPr id="73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DEA142D3-8E8A-4AA3-AF39-406335C0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800725"/>
            <a:ext cx="783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E22"/>
                </a:solidFill>
                <a:latin typeface="Arial"/>
                <a:ea typeface="Arial"/>
                <a:cs typeface="Arial"/>
              </a:rPr>
              <a:t>The metric is given. What stops users between saving and buying is not.</a:t>
            </a:r>
          </a:p>
        </p:txBody>
      </p:sp>
      <p:sp>
        <p:nvSpPr>
          <p:cNvPr id="7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5A080E7-7FC3-4693-8300-5C4E18A5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source-1">
            <a:extLst xmlns:a="http://schemas.openxmlformats.org/drawingml/2006/main">
              <a:ext uri="{FF2B5EF4-FFF2-40B4-BE49-F238E27FC236}">
                <a16:creationId xmlns:a16="http://schemas.microsoft.com/office/drawing/2014/main" id="{7D3DC644-B183-4255-98AA-4FE449C4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1" u="sng">
                <a:solidFill>
                  <a:srgbClr val="211E22"/>
                </a:solidFill>
                <a:latin typeface="Arial"/>
                <a:ea typeface="Arial"/>
                <a:cs typeface="Arial"/>
                <a:hlinkClick xmlns:r="http://schemas.openxmlformats.org/officeDocument/2006/relationships" r:id="Rc89100d7642a4cad"/>
              </a:rPr>
              <a:t>Sources: [1] Bain × Myntra (2024)</a:t>
            </a:r>
          </a:p>
        </p:txBody>
      </p:sp>
      <p:sp>
        <p:nvSpPr>
          <p:cNvPr id="76" name="source-2">
            <a:extLst xmlns:a="http://schemas.openxmlformats.org/drawingml/2006/main">
              <a:ext uri="{FF2B5EF4-FFF2-40B4-BE49-F238E27FC236}">
                <a16:creationId xmlns:a16="http://schemas.microsoft.com/office/drawing/2014/main" id="{44A96DA8-2783-4B67-99E1-12A7409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2293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0" u="sng">
                <a:solidFill>
                  <a:srgbClr val="211E22"/>
                </a:solidFill>
                <a:latin typeface="Arial"/>
                <a:ea typeface="Arial"/>
                <a:cs typeface="Arial"/>
                <a:hlinkClick xmlns:r="http://schemas.openxmlformats.org/officeDocument/2006/relationships" r:id="R4095775dc99d4b3e"/>
              </a:rPr>
              <a:t>[2] Moneycontrol/ANI (2025)</a:t>
            </a:r>
          </a:p>
        </p:txBody>
      </p:sp>
      <p:sp>
        <p:nvSpPr>
          <p:cNvPr id="77" name="source-3">
            <a:extLst xmlns:a="http://schemas.openxmlformats.org/drawingml/2006/main">
              <a:ext uri="{FF2B5EF4-FFF2-40B4-BE49-F238E27FC236}">
                <a16:creationId xmlns:a16="http://schemas.microsoft.com/office/drawing/2014/main" id="{D01CC47A-C782-46F2-B4CB-18FB2F66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229350"/>
            <a:ext cx="3848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0" u="sng">
                <a:solidFill>
                  <a:srgbClr val="211E22"/>
                </a:solidFill>
                <a:latin typeface="Arial"/>
                <a:ea typeface="Arial"/>
                <a:cs typeface="Arial"/>
                <a:hlinkClick xmlns:r="http://schemas.openxmlformats.org/officeDocument/2006/relationships" r:id="Rf7c0af7cc3674f76"/>
              </a:rPr>
              <a:t>[3] ET/RoC — Myntra FY25</a:t>
            </a:r>
          </a:p>
        </p:txBody>
      </p:sp>
      <p:sp>
        <p:nvSpPr>
          <p:cNvPr id="78" name="source-4">
            <a:extLst xmlns:a="http://schemas.openxmlformats.org/drawingml/2006/main">
              <a:ext uri="{FF2B5EF4-FFF2-40B4-BE49-F238E27FC236}">
                <a16:creationId xmlns:a16="http://schemas.microsoft.com/office/drawing/2014/main" id="{AB72CA94-0F20-4EA1-809A-47F09AC4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0" u="sng">
                <a:solidFill>
                  <a:srgbClr val="211E22"/>
                </a:solidFill>
                <a:latin typeface="Arial"/>
                <a:ea typeface="Arial"/>
                <a:cs typeface="Arial"/>
                <a:hlinkClick xmlns:r="http://schemas.openxmlformats.org/officeDocument/2006/relationships" r:id="Rca2da56c2a224aae"/>
              </a:rPr>
              <a:t>[4] Mint/Datum — Fashion shares</a:t>
            </a:r>
          </a:p>
        </p:txBody>
      </p:sp>
      <p:sp>
        <p:nvSpPr>
          <p:cNvPr id="79" name="source-5">
            <a:extLst xmlns:a="http://schemas.openxmlformats.org/drawingml/2006/main">
              <a:ext uri="{FF2B5EF4-FFF2-40B4-BE49-F238E27FC236}">
                <a16:creationId xmlns:a16="http://schemas.microsoft.com/office/drawing/2014/main" id="{E8E2AFE8-BAAA-422B-BD9F-8FC0FD33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4960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0" u="sng">
                <a:solidFill>
                  <a:srgbClr val="211E22"/>
                </a:solidFill>
                <a:latin typeface="Arial"/>
                <a:ea typeface="Arial"/>
                <a:cs typeface="Arial"/>
                <a:hlinkClick xmlns:r="http://schemas.openxmlformats.org/officeDocument/2006/relationships" r:id="R88c3ed619f9845d0"/>
              </a:rPr>
              <a:t>[5] The Ken — GMV analysis</a:t>
            </a:r>
          </a:p>
        </p:txBody>
      </p:sp>
      <p:sp>
        <p:nvSpPr>
          <p:cNvPr id="80" name="source-6">
            <a:extLst xmlns:a="http://schemas.openxmlformats.org/drawingml/2006/main">
              <a:ext uri="{FF2B5EF4-FFF2-40B4-BE49-F238E27FC236}">
                <a16:creationId xmlns:a16="http://schemas.microsoft.com/office/drawing/2014/main" id="{B790934B-FF0A-4D0E-9205-B641AA9C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96050"/>
            <a:ext cx="3848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11E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11E22"/>
                </a:solidFill>
                <a:latin typeface="Arial"/>
                <a:ea typeface="Arial"/>
                <a:cs typeface="Arial"/>
              </a:rPr>
              <a:t>[6] Graduation Project Brief</a:t>
            </a:r>
          </a:p>
        </p:txBody>
      </p:sp>
    </p:spTree>
    <p:extLst>
      <p:ext uri="{BB962C8B-B14F-4D97-AF65-F5344CB8AC3E}">
        <p14:creationId xmlns:p14="http://schemas.microsoft.com/office/powerpoint/2010/main" val="845845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2026-08-31T12:16:21.5140000Z</dcterms:created>
  <dcterms:modified xsi:type="dcterms:W3CDTF">2026-08-31T12:16:21.5140000Z</dcterms:modified>
</coreProperties>
</file>